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9144000" cy="365760"/>
          </a:xfrm>
          <a:prstGeom prst="rect">
            <a:avLst/>
          </a:prstGeom>
          <a:solidFill>
            <a:srgbClr val="E8B9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AgroInduGestor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1371600" cy="1371600"/>
          </a:xfrm>
          <a:prstGeom prst="rect">
            <a:avLst/>
          </a:prstGeom>
        </p:spPr>
      </p:pic>
      <p:pic>
        <p:nvPicPr>
          <p:cNvPr id="4" name="Picture 3" descr="LogoNautilus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82880"/>
            <a:ext cx="1371600" cy="1371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1097280"/>
            <a:ext cx="8595360" cy="27432"/>
          </a:xfrm>
          <a:prstGeom prst="rect">
            <a:avLst/>
          </a:prstGeom>
          <a:solidFill>
            <a:srgbClr val="E8B9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94560" cy="1005840"/>
          </a:xfrm>
          <a:prstGeom prst="rect">
            <a:avLst/>
          </a:prstGeom>
          <a:solidFill>
            <a:srgbClr val="1E1E1E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8B923"/>
                </a:solidFill>
              </a:defRPr>
            </a:pPr>
            <a:r>
              <a:t>Producción del día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12.450 kg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2194560" cy="1005840"/>
          </a:xfrm>
          <a:prstGeom prst="rect">
            <a:avLst/>
          </a:prstGeom>
          <a:solidFill>
            <a:srgbClr val="1E1E1E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8B923"/>
                </a:solidFill>
              </a:defRPr>
            </a:pPr>
            <a:r>
              <a:t>Inventario total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84.500 kg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280160"/>
            <a:ext cx="2194560" cy="1005840"/>
          </a:xfrm>
          <a:prstGeom prst="rect">
            <a:avLst/>
          </a:prstGeom>
          <a:solidFill>
            <a:srgbClr val="1E1E1E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8B923"/>
                </a:solidFill>
              </a:defRPr>
            </a:pPr>
            <a:r>
              <a:t>Órdenes activas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2194560" cy="1005840"/>
          </a:xfrm>
          <a:prstGeom prst="rect">
            <a:avLst/>
          </a:prstGeom>
          <a:solidFill>
            <a:srgbClr val="1E1E1E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8B923"/>
                </a:solidFill>
              </a:defRPr>
            </a:pPr>
            <a:r>
              <a:t>Rendimiento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92%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468880"/>
            <a:ext cx="2194560" cy="1005840"/>
          </a:xfrm>
          <a:prstGeom prst="rect">
            <a:avLst/>
          </a:prstGeom>
          <a:solidFill>
            <a:srgbClr val="1E1E1E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8B923"/>
                </a:solidFill>
              </a:defRPr>
            </a:pPr>
            <a:r>
              <a:t>Trazabilidad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97%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023360"/>
            <a:ext cx="274320" cy="274320"/>
          </a:xfrm>
          <a:prstGeom prst="rect">
            <a:avLst/>
          </a:prstGeom>
          <a:solidFill>
            <a:srgbClr val="E8B9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3749040"/>
            <a:ext cx="274320" cy="548640"/>
          </a:xfrm>
          <a:prstGeom prst="rect">
            <a:avLst/>
          </a:prstGeom>
          <a:solidFill>
            <a:srgbClr val="E8B9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3474720"/>
            <a:ext cx="274320" cy="822959"/>
          </a:xfrm>
          <a:prstGeom prst="rect">
            <a:avLst/>
          </a:prstGeom>
          <a:solidFill>
            <a:srgbClr val="E8B9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274320" cy="1097280"/>
          </a:xfrm>
          <a:prstGeom prst="rect">
            <a:avLst/>
          </a:prstGeom>
          <a:solidFill>
            <a:srgbClr val="E8B9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2926080"/>
            <a:ext cx="274320" cy="1371600"/>
          </a:xfrm>
          <a:prstGeom prst="rect">
            <a:avLst/>
          </a:prstGeom>
          <a:solidFill>
            <a:srgbClr val="E8B9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